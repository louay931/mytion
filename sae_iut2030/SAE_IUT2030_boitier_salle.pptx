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re" id="{c2d88708-82b5-6079-8087-cf02224dc582}">
          <p14:sldIdLst>
            <p14:sldId id="256"/>
          </p14:sldIdLst>
        </p14:section>
        <p14:section name="Problématique" id="{c04fc245-04d9-ca83-a55a-361b88c7c701}">
          <p14:sldIdLst>
            <p14:sldId id="257"/>
          </p14:sldIdLst>
        </p14:section>
        <p14:section name="Solution" id="{4e532185-22d9-fd68-1c42-5d2bd236bdfe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le projet en une phrase : un boîtier par salle qui sait qui est là, si la salle est vraiment utilisée, et s'il y a des personnes non autorisées. Deux thématiques couvertes : IoT et Université du futur.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problèmes concrets, qui ont une cause commune : aucune donnée fiable sur ce qui se passe dans les salles. Insister sur le fait que l'intrusion est une demande de l'équipe pédagogique.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cœur du projet est l'émargement (QR dynamique + BLE) ; l'occupation et la détection d'intrusion sont des extensions qui réutilisent le même boîtier. Si le temps manque dans l'année, on a quand même un projet fini. Les données se valident mutuellement : 20 émargés mais salle détectée vide = anomalie. Seul ajout matériel pour l'intrusion : le compteur de passage à la porte ; le reste est du traitement côté serveur. Démonstration prévue : une salle de l'IUT équipée, avec un intrus simulé.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10312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3977640"/>
            <a:ext cx="3657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300" dirty="0">
                <a:solidFill>
                  <a:schemeClr val="accent4"/>
                </a:solidFill>
              </a:defRPr>
            </a:lvl1pPr>
          </a:lstStyle>
          <a:p>
            <a:pPr algn="r"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68580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SAE IUT 2030 · Boîtier de salle connecté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SAE · IUT 2030 · PARCOURS ESE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Boîtier de salle connecté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1031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Émargement sécurisé, occupation des salles et détection d'intrusion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3977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Équipe : [Nom Prénom]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[Nom Prénom] · [Nom Prénom]</a:t>
            </a:r>
            <a:endParaRPr lang="en-US" sz="1300" dirty="0"/>
          </a:p>
        </p:txBody>
      </p:sp>
      <p:sp>
        <p:nvSpPr>
          <p:cNvPr id="6" name="Pastille IoT"/>
          <p:cNvSpPr/>
          <p:nvPr/>
        </p:nvSpPr>
        <p:spPr>
          <a:xfrm>
            <a:off x="548640" y="4206240"/>
            <a:ext cx="237744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4206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Objets connectés (IoT)</a:t>
            </a:r>
            <a:endParaRPr lang="en-US" sz="1300" dirty="0"/>
          </a:p>
        </p:txBody>
      </p:sp>
      <p:sp>
        <p:nvSpPr>
          <p:cNvPr id="8" name="Pastille Université"/>
          <p:cNvSpPr/>
          <p:nvPr/>
        </p:nvSpPr>
        <p:spPr>
          <a:xfrm>
            <a:off x="3063240" y="4206240"/>
            <a:ext cx="2194560" cy="411480"/>
          </a:xfrm>
          <a:prstGeom prst="roundRect">
            <a:avLst>
              <a:gd name="adj" fmla="val 48889"/>
            </a:avLst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63240" y="4206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Université du futur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LA PROBLÉMATIQUE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6858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L'IUT ne sait pas en temps réel qui est présent, quelles salles sont vraiment utilisées, ni si des personnes non autorisées s'y trouvent.</a:t>
            </a:r>
            <a:endParaRPr lang="en-US" sz="2200" dirty="0"/>
          </a:p>
        </p:txBody>
      </p:sp>
      <p:sp>
        <p:nvSpPr>
          <p:cNvPr id="4" name="Carte Émargement"/>
          <p:cNvSpPr/>
          <p:nvPr/>
        </p:nvSpPr>
        <p:spPr>
          <a:xfrm>
            <a:off x="457200" y="1920240"/>
            <a:ext cx="2560320" cy="260604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13223A">
                <a:alpha val="12000"/>
              </a:srgbClr>
            </a:outerShdw>
          </a:effectLst>
        </p:spPr>
      </p:sp>
      <p:sp>
        <p:nvSpPr>
          <p:cNvPr id="5" name="Cercle Émargement"/>
          <p:cNvSpPr/>
          <p:nvPr/>
        </p:nvSpPr>
        <p:spPr>
          <a:xfrm>
            <a:off x="685800" y="2148840"/>
            <a:ext cx="548640" cy="5486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mage 0" descr="Émarg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60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1488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Émargement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92608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Feuille papier lente à faire circuler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Falsifiable : on signe pour un absent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Saisie manuelle après le cours</a:t>
            </a:r>
            <a:endParaRPr lang="en-US" sz="1300" dirty="0"/>
          </a:p>
        </p:txBody>
      </p:sp>
      <p:sp>
        <p:nvSpPr>
          <p:cNvPr id="9" name="Carte Occupation"/>
          <p:cNvSpPr/>
          <p:nvPr/>
        </p:nvSpPr>
        <p:spPr>
          <a:xfrm>
            <a:off x="3291840" y="1920240"/>
            <a:ext cx="2560320" cy="260604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13223A">
                <a:alpha val="12000"/>
              </a:srgbClr>
            </a:outerShdw>
          </a:effectLst>
        </p:spPr>
      </p:sp>
      <p:sp>
        <p:nvSpPr>
          <p:cNvPr id="10" name="Cercle Occupation"/>
          <p:cNvSpPr/>
          <p:nvPr/>
        </p:nvSpPr>
        <p:spPr>
          <a:xfrm>
            <a:off x="3520440" y="2148840"/>
            <a:ext cx="548640" cy="5486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Image 1" descr="Occup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2860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206240" y="21488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Occupation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292608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Salles réservées mais vides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Salles libres introuvables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Chauffage et éclairage inutiles, air mal renouvelé</a:t>
            </a:r>
            <a:endParaRPr lang="en-US" sz="1300" dirty="0"/>
          </a:p>
        </p:txBody>
      </p:sp>
      <p:sp>
        <p:nvSpPr>
          <p:cNvPr id="14" name="Carte Intrusion"/>
          <p:cNvSpPr/>
          <p:nvPr/>
        </p:nvSpPr>
        <p:spPr>
          <a:xfrm>
            <a:off x="6126480" y="1920240"/>
            <a:ext cx="2560320" cy="260604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13223A">
                <a:alpha val="12000"/>
              </a:srgbClr>
            </a:outerShdw>
          </a:effectLst>
        </p:spPr>
      </p:sp>
      <p:sp>
        <p:nvSpPr>
          <p:cNvPr id="15" name="Cercle Intrusion"/>
          <p:cNvSpPr/>
          <p:nvPr/>
        </p:nvSpPr>
        <p:spPr>
          <a:xfrm>
            <a:off x="6355080" y="2148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Intrus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28600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040880" y="21488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Intrusion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292608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Salle utilisée hors créneau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Personnes non inscrites au cours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Aucune alerte aujourd'hui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LA SOLUTION TECHNOLOGIQUE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6858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Un boîtier ESP32 par salle, un serveur qui croise les données</a:t>
            </a:r>
            <a:endParaRPr lang="en-US" sz="2200" dirty="0"/>
          </a:p>
        </p:txBody>
      </p:sp>
      <p:sp>
        <p:nvSpPr>
          <p:cNvPr id="4" name="Étape Dans la salle"/>
          <p:cNvSpPr/>
          <p:nvPr/>
        </p:nvSpPr>
        <p:spPr>
          <a:xfrm>
            <a:off x="457200" y="1508760"/>
            <a:ext cx="2423160" cy="2423160"/>
          </a:xfrm>
          <a:prstGeom prst="roundRect">
            <a:avLst>
              <a:gd name="adj" fmla="val 3774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13223A">
                <a:alpha val="12000"/>
              </a:srgbClr>
            </a:outerShdw>
          </a:effectLst>
        </p:spPr>
      </p:sp>
      <p:sp>
        <p:nvSpPr>
          <p:cNvPr id="5" name="Cercle Dans la salle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mage 0" descr="Dans la sa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80594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8720" y="1691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 · Dans la salle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28600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2"/>
                </a:solidFill>
              </a:rPr>
              <a:t>QR code dynamique (5 s) + BLE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2"/>
                </a:solidFill>
              </a:rPr>
              <a:t>Présence : radar mmWave ou PIR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2"/>
                </a:solidFill>
              </a:rPr>
              <a:t>CO2 et température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2"/>
                </a:solidFill>
              </a:rPr>
              <a:t>Compteur de passage (2 ToF)</a:t>
            </a:r>
            <a:endParaRPr lang="en-US" sz="1200" dirty="0"/>
          </a:p>
        </p:txBody>
      </p:sp>
      <p:sp>
        <p:nvSpPr>
          <p:cNvPr id="9" name="Flèche 1"/>
          <p:cNvSpPr/>
          <p:nvPr/>
        </p:nvSpPr>
        <p:spPr>
          <a:xfrm>
            <a:off x="2971800" y="2560320"/>
            <a:ext cx="297180" cy="32004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0" name="Étape Serveur"/>
          <p:cNvSpPr/>
          <p:nvPr/>
        </p:nvSpPr>
        <p:spPr>
          <a:xfrm>
            <a:off x="3360420" y="1508760"/>
            <a:ext cx="2423160" cy="2423160"/>
          </a:xfrm>
          <a:prstGeom prst="roundRect">
            <a:avLst>
              <a:gd name="adj" fmla="val 3774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13223A">
                <a:alpha val="12000"/>
              </a:srgbClr>
            </a:outerShdw>
          </a:effectLst>
        </p:spPr>
      </p:sp>
      <p:sp>
        <p:nvSpPr>
          <p:cNvPr id="11" name="Cercle Serveur"/>
          <p:cNvSpPr/>
          <p:nvPr/>
        </p:nvSpPr>
        <p:spPr>
          <a:xfrm>
            <a:off x="3543300" y="169164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2" name="Image 1" descr="Serveu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80594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91940" y="1691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 · Serveur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43300" y="228600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2"/>
                </a:solidFill>
              </a:rPr>
              <a:t>Données reçues en MQTT (Wi-Fi)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2"/>
                </a:solidFill>
              </a:rPr>
              <a:t>Croise émargement, comptage et emploi du temps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2"/>
                </a:solidFill>
              </a:rPr>
              <a:t>Tableau de bord : salles, présents, qualité de l'air</a:t>
            </a:r>
            <a:endParaRPr lang="en-US" sz="1200" dirty="0"/>
          </a:p>
        </p:txBody>
      </p:sp>
      <p:sp>
        <p:nvSpPr>
          <p:cNvPr id="15" name="Flèche 2"/>
          <p:cNvSpPr/>
          <p:nvPr/>
        </p:nvSpPr>
        <p:spPr>
          <a:xfrm>
            <a:off x="5875020" y="2560320"/>
            <a:ext cx="297180" cy="32004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6" name="Étape Alertes intrusion"/>
          <p:cNvSpPr/>
          <p:nvPr/>
        </p:nvSpPr>
        <p:spPr>
          <a:xfrm>
            <a:off x="6263640" y="1508760"/>
            <a:ext cx="2423160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  <a:effectLst>
            <a:outerShdw sx="100000" sy="100000" kx="0" ky="0" algn="bl" rotWithShape="0" blurRad="76200" dist="25400" dir="5400000">
              <a:srgbClr val="13223A">
                <a:alpha val="12000"/>
              </a:srgbClr>
            </a:outerShdw>
          </a:effectLst>
        </p:spPr>
      </p:sp>
      <p:sp>
        <p:nvSpPr>
          <p:cNvPr id="17" name="Cercle Alertes intrusion"/>
          <p:cNvSpPr/>
          <p:nvPr/>
        </p:nvSpPr>
        <p:spPr>
          <a:xfrm>
            <a:off x="644652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2" descr="Alertes intrus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1805940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995160" y="1691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 · Alertes intrusion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446520" y="228600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4"/>
                </a:solidFill>
              </a:rPr>
              <a:t>Présence détectée hors créneau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4"/>
                </a:solidFill>
              </a:rPr>
              <a:t>25 comptés, 22 émargés : 3 non identifiés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4"/>
                </a:solidFill>
              </a:rPr>
              <a:t>Scan hors du groupe : refusé et signalé</a:t>
            </a:r>
            <a:endParaRPr lang="en-US" sz="1200" dirty="0"/>
          </a:p>
        </p:txBody>
      </p:sp>
      <p:sp>
        <p:nvSpPr>
          <p:cNvPr id="21" name="Encadré RGPD"/>
          <p:cNvSpPr/>
          <p:nvPr/>
        </p:nvSpPr>
        <p:spPr>
          <a:xfrm>
            <a:off x="457200" y="4096512"/>
            <a:ext cx="8229600" cy="530352"/>
          </a:xfrm>
          <a:prstGeom prst="roundRect">
            <a:avLst>
              <a:gd name="adj" fmla="val 13793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13223A">
                <a:alpha val="12000"/>
              </a:srgbClr>
            </a:outerShdw>
          </a:effectLst>
        </p:spPr>
      </p:sp>
      <p:pic>
        <p:nvPicPr>
          <p:cNvPr id="22" name="Image 3" descr="Caden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224528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7280" y="4096512"/>
            <a:ext cx="7406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Sans caméra 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 système sait qu'il y a un intrus et combien, pas qui. Pas de surveillance vidéo, compatible RGPD.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oitier de salle">
  <a:themeElements>
    <a:clrScheme name="Boitier de salle">
      <a:dk1>
        <a:srgbClr val="13223A"/>
      </a:dk1>
      <a:lt1>
        <a:srgbClr val="FFFFFF"/>
      </a:lt1>
      <a:dk2>
        <a:srgbClr val="3E4A5C"/>
      </a:dk2>
      <a:lt2>
        <a:srgbClr val="EEF1F5"/>
      </a:lt2>
      <a:accent1>
        <a:srgbClr val="E8863A"/>
      </a:accent1>
      <a:accent2>
        <a:srgbClr val="B4561B"/>
      </a:accent2>
      <a:accent3>
        <a:srgbClr val="2F6FA7"/>
      </a:accent3>
      <a:accent4>
        <a:srgbClr val="C9D3E0"/>
      </a:accent4>
      <a:accent5>
        <a:srgbClr val="5B8C5A"/>
      </a:accent5>
      <a:accent6>
        <a:srgbClr val="8A5A9E"/>
      </a:accent6>
      <a:hlink>
        <a:srgbClr val="2F6FA7"/>
      </a:hlink>
      <a:folHlink>
        <a:srgbClr val="8A5A9E"/>
      </a:folHlink>
    </a:clrScheme>
    <a:fontScheme name="Boitier de sall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Boîtier de salle connecté – SAE IUT 2030</dc:title>
  <dc:subject>PptxGenJS Presentation</dc:subject>
  <dc:creator>PptxGenJS</dc:creator>
  <cp:lastModifiedBy>PptxGenJS</cp:lastModifiedBy>
  <cp:revision>1</cp:revision>
  <dcterms:created xsi:type="dcterms:W3CDTF">2026-10-02T11:43:27Z</dcterms:created>
  <dcterms:modified xsi:type="dcterms:W3CDTF">2026-10-02T11:43:27Z</dcterms:modified>
</cp:coreProperties>
</file>